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1A4F8A">
              <a:alpha val="35000"/>
            </a:srgbClr>
          </a:solidFill>
          <a:ln w="12700">
            <a:solidFill>
              <a:srgbClr val="1A4F8A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474720"/>
            <a:ext cx="2011680" cy="2011680"/>
          </a:xfrm>
          <a:prstGeom prst="ellipse">
            <a:avLst/>
          </a:prstGeom>
          <a:solidFill>
            <a:srgbClr val="E8A838">
              <a:alpha val="22000"/>
            </a:srgbClr>
          </a:solidFill>
          <a:ln w="12700">
            <a:solidFill>
              <a:srgbClr val="E8A838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IBIQ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Qualité des Données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5486400" cy="36576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complète — Modernisation du portail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A340  ·  Avril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713232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 du projet IBIQ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502920" cy="713232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L'ancienne page — Problèmes identifiés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80360"/>
            <a:ext cx="502920" cy="713232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803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97180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nouveau portail — Vue d'ensemble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40480"/>
            <a:ext cx="502920" cy="713232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404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93192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navigation — 3 grandes parties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96012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960120"/>
            <a:ext cx="502920" cy="713232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601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05156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types de ressources — Badges visuels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92024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920240"/>
            <a:ext cx="502920" cy="713232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9202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201168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Avant / Après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88036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880360"/>
            <a:ext cx="502920" cy="713232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8803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297180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 — Fichiers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384048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840480"/>
            <a:ext cx="502920" cy="713232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8404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393192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 &amp; déploiement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A340 · IBIQ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Contexte &amp; objectifs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1148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Contexte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1270" rIns="127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A340 — Qualité des Données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IBIQ hébergée sur SharePoint (moss-si.cm-si.fr)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: qualité des données, contrôles automatiques et data lineage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Référents : Q. Zimmermann, A. Mamecier, A. Mazier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343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60120"/>
            <a:ext cx="4343400" cy="4114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Objectifs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463040"/>
            <a:ext cx="4069080" cy="3108960"/>
          </a:xfrm>
          <a:prstGeom prst="rect">
            <a:avLst/>
          </a:prstGeom>
          <a:noFill/>
          <a:ln/>
        </p:spPr>
        <p:txBody>
          <a:bodyPr wrap="square" lIns="0" tIns="1270" rIns="127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Moderniser l'interface pour une meilleure lisibilité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le contenu en 3 grandes parties logiques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visuellement chaque type de ressource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la navigation intuitive sans formation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Marquer clairement les contenus obsolètes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A340 · IBIQ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L'ancienne page — Problèmes identifiés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54864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10698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Design vieillissant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" y="14356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SharePoint générique sans hiérarchie visuelle. Aucune charte graphique, pas de distinction entre les blocs.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54864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10698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Organisation confuse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74136" y="14356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QDD, POD, SIMC, MAYA, META, Lignage mélangés sur une seule page sans logique de regroupement claire.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96012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960120"/>
            <a:ext cx="54864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10698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Pas de repère visuel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91656" y="14356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distinguer en un coup d'œil un PowerPoint, un document Word, une application ou une vidéo.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83464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34640"/>
            <a:ext cx="54864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" y="2944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Obsolète non identifié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" y="331012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éléments obsolètes (ex. Vision Macro) sont affichés de la même façon que les contenus actifs.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283464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834640"/>
            <a:ext cx="54864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2944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Navigation difficile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74136" y="331012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affiché d'un bloc, sans ancres ni sections. L'utilisateur doit tout scroller pour trouver un lien.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63640" y="283464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2834640"/>
            <a:ext cx="54864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1656" y="2944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Pas de référents visibles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91656" y="331012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référents par section ne sont pas mis en avant, rendant difficile le contact en cas de question.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A340 · IBIQ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Le nouveau portail — Vue d'ensemble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54864" cy="16002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10698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POD toujours visible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" y="14356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fixe en haut de page, toujours accessible quel que soit l'endroit dans la page.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54864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10698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Navigation par ancres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74136" y="14356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sticky sous le header avec 4 liens directs : POD, Projet, Applications, Documentation.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96012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960120"/>
            <a:ext cx="54864" cy="1600200"/>
          </a:xfrm>
          <a:prstGeom prst="rect">
            <a:avLst/>
          </a:prstGeom>
          <a:solidFill>
            <a:srgbClr val="C43E1C"/>
          </a:solidFill>
          <a:ln w="12700">
            <a:solidFill>
              <a:srgbClr val="C43E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10698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Badges de type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91656" y="14356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ressource affiche un badge coloré : PPT, WORD, APP, WIKI, VIDÉO, OBSOLÈTE.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83464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34640"/>
            <a:ext cx="54864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" y="2944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3 grandes parties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" y="331012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(QDD), Applications (SIMC + MAYA + KPI), Documentation (MPD + META + Lignage).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283464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834640"/>
            <a:ext cx="54864" cy="16002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2944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Obsolète grisé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74136" y="331012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contenus obsolètes sont affichés en transparence avec un badge OBSOLÈTE bien visible.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63640" y="283464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2834640"/>
            <a:ext cx="54864" cy="1600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1656" y="2944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Design responsive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91656" y="331012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adaptée aux écrans larges et mobiles. Cartes avec ombres légères et fond clair.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A340 · IBIQ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Structure &amp; navigation — 3 grandes parties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8686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POD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91640" y="1051560"/>
            <a:ext cx="18288" cy="2743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960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Projet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960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Applications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Documentation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Barre de navigation sticky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55448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554480"/>
            <a:ext cx="2743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Projet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" y="2084832"/>
            <a:ext cx="2560320" cy="2560320"/>
          </a:xfrm>
          <a:prstGeom prst="rect">
            <a:avLst/>
          </a:prstGeom>
          <a:noFill/>
          <a:ln/>
        </p:spPr>
        <p:txBody>
          <a:bodyPr wrap="square" lIns="0" tIns="635" rIns="635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 QDD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Macro (obsolète)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55448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554480"/>
            <a:ext cx="27432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Applications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2084832"/>
            <a:ext cx="2560320" cy="2560320"/>
          </a:xfrm>
          <a:prstGeom prst="rect">
            <a:avLst/>
          </a:prstGeom>
          <a:noFill/>
          <a:ln/>
        </p:spPr>
        <p:txBody>
          <a:bodyPr wrap="square" lIns="0" tIns="635" rIns="635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BD KPI UoC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 (Usine à Contrôle)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Générale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 — Fonction F5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— Revue de code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155448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554480"/>
            <a:ext cx="2743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Documentation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084832"/>
            <a:ext cx="2560320" cy="2560320"/>
          </a:xfrm>
          <a:prstGeom prst="rect">
            <a:avLst/>
          </a:prstGeom>
          <a:noFill/>
          <a:ln/>
        </p:spPr>
        <p:txBody>
          <a:bodyPr wrap="square" lIns="0" tIns="635" rIns="635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son MPD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Tutoriel PowerDesigner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MPD vers META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Dictionnaire META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Lignage de données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4663440"/>
            <a:ext cx="8686800" cy="164592"/>
          </a:xfrm>
          <a:prstGeom prst="rect">
            <a:avLst/>
          </a:prstGeom>
          <a:solidFill>
            <a:srgbClr val="1A4F8A">
              <a:alpha val="15000"/>
            </a:srgbClr>
          </a:solidFill>
          <a:ln w="12700">
            <a:solidFill>
              <a:srgbClr val="1A4F8A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63440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POD — Portail Organisation Données — Toujours visible en haut de page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A340 · IBIQ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Les types de ressources — Badges visuels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ressource est identifiée visuellement par un badge coloré, visible immédiatement sans ouvrir le lien.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81912"/>
            <a:ext cx="658368" cy="256032"/>
          </a:xfrm>
          <a:prstGeom prst="rect">
            <a:avLst/>
          </a:prstGeom>
          <a:solidFill>
            <a:srgbClr val="FDF2EF"/>
          </a:solidFill>
          <a:ln w="12700">
            <a:solidFill>
              <a:srgbClr val="FDF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8191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Présentations PowerPoint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Présentation projet, Vision Macro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581912"/>
            <a:ext cx="658368" cy="256032"/>
          </a:xfrm>
          <a:prstGeom prst="rect">
            <a:avLst/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8191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Word / SFD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SFD — Remplir la fonction F5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581912"/>
            <a:ext cx="658368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58191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63640" y="1920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outils en ligne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SIMC, MAYA, Rapport KPI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319272"/>
            <a:ext cx="658368" cy="256032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192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657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Wiki &amp; guides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POD, Lignage, MPD, META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15468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319272"/>
            <a:ext cx="658368" cy="2560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3192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7560" y="3657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Tutoriels &amp; présentations vidéo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Tutoriel PowerDesigner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315468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3319272"/>
            <a:ext cx="658368" cy="256032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3192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OBSOLÈTE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63640" y="3657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déprécié — grisé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Vision Macro (QDD)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A340 · IBIQ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Comparaison Avant / Après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834640" y="914400"/>
            <a:ext cx="28346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0" y="914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AVANT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914400"/>
            <a:ext cx="30632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0" y="9144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APRÈS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2514600" cy="530352"/>
          </a:xfrm>
          <a:prstGeom prst="rect">
            <a:avLst/>
          </a:prstGeom>
          <a:solidFill>
            <a:srgbClr val="0D2D52">
              <a:alpha val="15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371600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4173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générique, sans identité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52160" y="1371600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41732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moderne, fond clair, cartes avec ombres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1965960"/>
            <a:ext cx="2514600" cy="530352"/>
          </a:xfrm>
          <a:prstGeom prst="rect">
            <a:avLst/>
          </a:prstGeom>
          <a:solidFill>
            <a:srgbClr val="0D2D52">
              <a:alpha val="2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1168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1965960"/>
            <a:ext cx="2834640" cy="5303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20116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sur une page, scroll obligatoire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52160" y="1965960"/>
            <a:ext cx="3063240" cy="5303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01168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d'ancres sticky, accès direct en 1 clic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560320"/>
            <a:ext cx="2514600" cy="530352"/>
          </a:xfrm>
          <a:prstGeom prst="rect">
            <a:avLst/>
          </a:prstGeom>
          <a:solidFill>
            <a:srgbClr val="0D2D52">
              <a:alpha val="15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6060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34640" y="2560320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26060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mélangées sans logique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52160" y="2560320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6060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grandes parties + POD toujours visible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3154680"/>
            <a:ext cx="2514600" cy="530352"/>
          </a:xfrm>
          <a:prstGeom prst="rect">
            <a:avLst/>
          </a:prstGeom>
          <a:solidFill>
            <a:srgbClr val="0D2D52">
              <a:alpha val="2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20040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docs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34640" y="3154680"/>
            <a:ext cx="2834640" cy="5303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32004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repère visuel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52160" y="3154680"/>
            <a:ext cx="3063240" cy="5303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320040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PPT / WORD / APP / WIKI / VIDÉO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3749040"/>
            <a:ext cx="2514600" cy="530352"/>
          </a:xfrm>
          <a:prstGeom prst="rect">
            <a:avLst/>
          </a:prstGeom>
          <a:solidFill>
            <a:srgbClr val="0D2D52">
              <a:alpha val="15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7947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Contenus obsol.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834640" y="3749040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0" y="37947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Affichés normalement sans distinction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52160" y="3749040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79476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Grisés + badge OBSOLÈTE clairement visible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28600" y="4343400"/>
            <a:ext cx="2514600" cy="530352"/>
          </a:xfrm>
          <a:prstGeom prst="rect">
            <a:avLst/>
          </a:prstGeom>
          <a:solidFill>
            <a:srgbClr val="0D2D52">
              <a:alpha val="2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3891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834640" y="4343400"/>
            <a:ext cx="2834640" cy="5303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0" y="43891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mis en avant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52160" y="4343400"/>
            <a:ext cx="3063240" cy="5303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438912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Affichés par section dans le header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A340 · IBIQ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Architecture technique — Fichiers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697480" cy="50292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IBIQ.aspx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principale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HTML de la page SharePoint. Contient le contenu (cartes, sections, header, footer). À déposer sur le serveur SharePoint.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547872"/>
            <a:ext cx="731520" cy="228600"/>
          </a:xfrm>
          <a:prstGeom prst="rect">
            <a:avLst/>
          </a:prstGeom>
          <a:solidFill>
            <a:srgbClr val="1A4F8A">
              <a:alpha val="15000"/>
            </a:srgbClr>
          </a:solidFill>
          <a:ln w="12700">
            <a:solidFill>
              <a:srgbClr val="1A4F8A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547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188720" y="3547872"/>
            <a:ext cx="731520" cy="228600"/>
          </a:xfrm>
          <a:prstGeom prst="rect">
            <a:avLst/>
          </a:prstGeom>
          <a:solidFill>
            <a:srgbClr val="1A4F8A">
              <a:alpha val="15000"/>
            </a:srgbClr>
          </a:solidFill>
          <a:ln w="12700">
            <a:solidFill>
              <a:srgbClr val="1A4F8A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547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011680" y="3547872"/>
            <a:ext cx="731520" cy="228600"/>
          </a:xfrm>
          <a:prstGeom prst="rect">
            <a:avLst/>
          </a:prstGeom>
          <a:solidFill>
            <a:srgbClr val="1A4F8A">
              <a:alpha val="15000"/>
            </a:srgbClr>
          </a:solidFill>
          <a:ln w="12700">
            <a:solidFill>
              <a:srgbClr val="1A4F8A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3547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0" y="96012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960120"/>
            <a:ext cx="26974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960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ibiq.css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15361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style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187452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styles visuels : couleurs, cartes, badges, navigation, responsive. À uploader dans SiteAssets/ibiq/.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547872"/>
            <a:ext cx="731520" cy="2286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547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14800" y="3547872"/>
            <a:ext cx="731520" cy="2286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3547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937760" y="3547872"/>
            <a:ext cx="731520" cy="2286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547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126480" y="96012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960120"/>
            <a:ext cx="2697480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960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ibiq.js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15361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interactif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187452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scroll fluide, navigation par ancres et ouverture des liens dans un nouvel onglet. À uploader dans SiteAssets/ibiq/.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547872"/>
            <a:ext cx="731520" cy="228600"/>
          </a:xfrm>
          <a:prstGeom prst="rect">
            <a:avLst/>
          </a:prstGeom>
          <a:solidFill>
            <a:srgbClr val="E8A838">
              <a:alpha val="15000"/>
            </a:srgbClr>
          </a:solidFill>
          <a:ln w="12700">
            <a:solidFill>
              <a:srgbClr val="E8A838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547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040880" y="3547872"/>
            <a:ext cx="731520" cy="228600"/>
          </a:xfrm>
          <a:prstGeom prst="rect">
            <a:avLst/>
          </a:prstGeom>
          <a:solidFill>
            <a:srgbClr val="E8A838">
              <a:alpha val="15000"/>
            </a:srgbClr>
          </a:solidFill>
          <a:ln w="12700">
            <a:solidFill>
              <a:srgbClr val="E8A838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3547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863840" y="3547872"/>
            <a:ext cx="731520" cy="228600"/>
          </a:xfrm>
          <a:prstGeom prst="rect">
            <a:avLst/>
          </a:prstGeom>
          <a:solidFill>
            <a:srgbClr val="E8A838">
              <a:alpha val="15000"/>
            </a:srgbClr>
          </a:solidFill>
          <a:ln w="12700">
            <a:solidFill>
              <a:srgbClr val="E8A838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3547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4645152"/>
            <a:ext cx="8595360" cy="219456"/>
          </a:xfrm>
          <a:prstGeom prst="rect">
            <a:avLst/>
          </a:prstGeom>
          <a:solidFill>
            <a:srgbClr val="0D2D52">
              <a:alpha val="12000"/>
            </a:srgbClr>
          </a:solidFill>
          <a:ln w="12700">
            <a:solidFill>
              <a:srgbClr val="0D2D52">
                <a:alpha val="1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65429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Chemin SharePoint : /Sites/D00110/SiteAssets/ibiq/  →  ibiq.css  +  ibiq.js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A340 · IBIQ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2926080" cy="2926080"/>
          </a:xfrm>
          <a:prstGeom prst="ellipse">
            <a:avLst/>
          </a:prstGeom>
          <a:solidFill>
            <a:srgbClr val="1A4F8A">
              <a:alpha val="40000"/>
            </a:srgbClr>
          </a:solidFill>
          <a:ln w="12700">
            <a:solidFill>
              <a:srgbClr val="1A4F8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3291840"/>
            <a:ext cx="1828800" cy="1828800"/>
          </a:xfrm>
          <a:prstGeom prst="ellipse">
            <a:avLst/>
          </a:prstGeom>
          <a:solidFill>
            <a:srgbClr val="E8A838">
              <a:alpha val="20000"/>
            </a:srgbClr>
          </a:solidFill>
          <a:ln w="12700">
            <a:solidFill>
              <a:srgbClr val="E8A83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Prochaines étapes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pour déployer le nouveau portail IBIQ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des fichiers CSS &amp; JS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801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Déposer ibiq.css et ibiq.js dans /Sites/D00110/SiteAssets/ibiq/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600200"/>
            <a:ext cx="1371600" cy="320040"/>
          </a:xfrm>
          <a:prstGeom prst="rect">
            <a:avLst/>
          </a:prstGeom>
          <a:solidFill>
            <a:srgbClr val="E8A838">
              <a:alpha val="20000"/>
            </a:srgbClr>
          </a:solidFill>
          <a:ln w="12700">
            <a:solidFill>
              <a:srgbClr val="E8A838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95728"/>
            <a:ext cx="457200" cy="45720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3957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le HTML dans IBIQ.aspx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6426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 le contenu dans PlaceHolderMain et PlaceHolderAdditionalPageHead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2441448"/>
            <a:ext cx="1371600" cy="320040"/>
          </a:xfrm>
          <a:prstGeom prst="rect">
            <a:avLst/>
          </a:prstGeom>
          <a:solidFill>
            <a:srgbClr val="E8A838">
              <a:alpha val="20000"/>
            </a:srgbClr>
          </a:solidFill>
          <a:ln w="12700">
            <a:solidFill>
              <a:srgbClr val="E8A838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4414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236976"/>
            <a:ext cx="457200" cy="45720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2369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les liens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4838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tous les href="#" par les vraies URLs SharePoint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3282696"/>
            <a:ext cx="1371600" cy="320040"/>
          </a:xfrm>
          <a:prstGeom prst="rect">
            <a:avLst/>
          </a:prstGeom>
          <a:solidFill>
            <a:srgbClr val="E8A838">
              <a:alpha val="20000"/>
            </a:srgbClr>
          </a:solidFill>
          <a:ln w="12700">
            <a:solidFill>
              <a:srgbClr val="E8A838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2826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078224"/>
            <a:ext cx="457200" cy="45720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0782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&amp; déployer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3251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sur le serveur et partager la nouvelle page avec l'équipe A340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4123944"/>
            <a:ext cx="1371600" cy="320040"/>
          </a:xfrm>
          <a:prstGeom prst="rect">
            <a:avLst/>
          </a:prstGeom>
          <a:solidFill>
            <a:srgbClr val="E8A838">
              <a:alpha val="20000"/>
            </a:srgbClr>
          </a:solidFill>
          <a:ln w="12700">
            <a:solidFill>
              <a:srgbClr val="E8A838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41239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A340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A340  ·  IBIQ  ·  Avril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IBIQ — Portail Qualité Données</dc:title>
  <dc:subject>PptxGenJS Presentation</dc:subject>
  <dc:creator>PptxGenJS</dc:creator>
  <cp:lastModifiedBy>PptxGenJS</cp:lastModifiedBy>
  <cp:revision>1</cp:revision>
  <dcterms:created xsi:type="dcterms:W3CDTF">2026-04-10T05:49:10Z</dcterms:created>
  <dcterms:modified xsi:type="dcterms:W3CDTF">2026-04-10T05:49:10Z</dcterms:modified>
</cp:coreProperties>
</file>